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B2B2B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2B2B2B"/>
                </a:solidFill>
                <a:latin typeface="+mn-lt"/>
              </a:rPr>
              <a:t>テスト正解率（5シードの平均）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平均正解率(%)</c:v>
                </c:pt>
              </c:strCache>
            </c:strRef>
          </c:tx>
          <c:spPr>
            <a:solidFill>
              <a:srgbClr val="9E9E9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B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E9E9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7A5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504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0A52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CNN
(ゼロから)</c:v>
                  </c:pt>
                  <c:pt idx="1">
                    <c:v>ResNet18
凍結</c:v>
                  </c:pt>
                  <c:pt idx="2">
                    <c:v>ResNet18
微調整</c:v>
                  </c:pt>
                  <c:pt idx="3">
                    <c:v>ViT
凍結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61.3</c:v>
                </c:pt>
                <c:pt idx="1">
                  <c:v>76</c:v>
                </c:pt>
                <c:pt idx="2">
                  <c:v>85.3</c:v>
                </c:pt>
                <c:pt idx="3">
                  <c:v>82.7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2B2B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B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pytorch.org/tutorials/beginner/transfer_learning_tutorial.html" TargetMode="External"/><Relationship Id="rId2" Type="http://schemas.openxmlformats.org/officeDocument/2006/relationships/hyperlink" Target="https://cs231n.github.io/transfer-learning/" TargetMode="External"/><Relationship Id="rId3" Type="http://schemas.openxmlformats.org/officeDocument/2006/relationships/hyperlink" Target="https://arxiv.org/abs/1411.1792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420624" cy="420624"/>
          </a:xfrm>
          <a:prstGeom prst="ellipse">
            <a:avLst/>
          </a:prstGeom>
          <a:solidFill>
            <a:srgbClr val="4F7A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92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46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転移学習とは？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たくさんの画像で学習済みのモデルの「重み」を借りて、少ないデータの自分のタスクに使う方法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7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転移学習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DCE8D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783080"/>
            <a:ext cx="18288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ImageNet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約128万枚・1000種類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0" y="2075688"/>
            <a:ext cx="457200" cy="329184"/>
          </a:xfrm>
          <a:prstGeom prst="rightArrow">
            <a:avLst/>
          </a:prstGeom>
          <a:solidFill>
            <a:srgbClr val="4F7A5A"/>
          </a:solidFill>
          <a:ln/>
        </p:spPr>
      </p:sp>
      <p:sp>
        <p:nvSpPr>
          <p:cNvPr id="10" name="Shape 8"/>
          <p:cNvSpPr/>
          <p:nvPr/>
        </p:nvSpPr>
        <p:spPr>
          <a:xfrm>
            <a:off x="2834640" y="178308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4F7A5A"/>
          </a:solidFill>
          <a:ln w="12700">
            <a:solidFill>
              <a:srgbClr val="4F7A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34640" y="1783080"/>
            <a:ext cx="17373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学習済みの重み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（ResNet18 など）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075688"/>
            <a:ext cx="457200" cy="329184"/>
          </a:xfrm>
          <a:prstGeom prst="rightArrow">
            <a:avLst/>
          </a:prstGeom>
          <a:solidFill>
            <a:srgbClr val="4F7A5A"/>
          </a:solidFill>
          <a:ln/>
        </p:spPr>
      </p:sp>
      <p:sp>
        <p:nvSpPr>
          <p:cNvPr id="13" name="Shape 11"/>
          <p:cNvSpPr/>
          <p:nvPr/>
        </p:nvSpPr>
        <p:spPr>
          <a:xfrm>
            <a:off x="5212080" y="178308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F8ECCB"/>
          </a:solidFill>
          <a:ln w="12700">
            <a:solidFill>
              <a:srgbClr val="F8ECC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1783080"/>
            <a:ext cx="16459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自分の靴写真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100枚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49440" y="2075688"/>
            <a:ext cx="365760" cy="329184"/>
          </a:xfrm>
          <a:prstGeom prst="rightArrow">
            <a:avLst/>
          </a:prstGeom>
          <a:solidFill>
            <a:srgbClr val="4F7A5A"/>
          </a:solidFill>
          <a:ln/>
        </p:spPr>
      </p:sp>
      <p:sp>
        <p:nvSpPr>
          <p:cNvPr id="16" name="Shape 14"/>
          <p:cNvSpPr/>
          <p:nvPr/>
        </p:nvSpPr>
        <p:spPr>
          <a:xfrm>
            <a:off x="7406640" y="178308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06640" y="1783080"/>
            <a:ext cx="13716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好き？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好きじゃない？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ゼロから学習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5760" y="3246120"/>
            <a:ext cx="18288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ランダムな重み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0" y="3538728"/>
            <a:ext cx="457200" cy="329184"/>
          </a:xfrm>
          <a:prstGeom prst="rightArrow">
            <a:avLst/>
          </a:prstGeom>
          <a:solidFill>
            <a:srgbClr val="6B6B6B"/>
          </a:solidFill>
          <a:ln/>
        </p:spPr>
      </p:sp>
      <p:sp>
        <p:nvSpPr>
          <p:cNvPr id="22" name="Shape 20"/>
          <p:cNvSpPr/>
          <p:nvPr/>
        </p:nvSpPr>
        <p:spPr>
          <a:xfrm>
            <a:off x="2834640" y="324612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834640" y="3246120"/>
            <a:ext cx="40233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大量のデータと時間が必要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100枚だと特徴を覚えきれない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95160" y="32461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少ないデータでも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 正解率が上がりやすい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6576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図：AI で生成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420624" cy="420624"/>
          </a:xfrm>
          <a:prstGeom prst="ellipse">
            <a:avLst/>
          </a:prstGeom>
          <a:solidFill>
            <a:srgbClr val="4F7A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92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46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凍結・微調整・フル微調整の違い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凍結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16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最後の層 fc だけ学習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97764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入口（conv1）　固定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42900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layer1　固定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layer2・3　固定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33172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layer4　固定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178308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出口（fc）　学習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868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微調整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1216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後ろの層（layer4＋fc）を学習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29000" y="397764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29000" y="397764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入口（conv1）　固定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29000" y="342900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29000" y="342900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layer1　固定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29000" y="288036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2900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layer2・3　固定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29000" y="233172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29000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layer4　学習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29000" y="178308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2900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出口（fc）　学習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868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フル微調整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6309360" y="1216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全部の層を学習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397764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09360" y="397764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入口（conv1）　学習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342900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09360" y="342900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layer1　学習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09360" y="288036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0936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layer2・3　学習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09360" y="233172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09360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layer4　学習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178308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0936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出口（fc）　学習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4617720"/>
            <a:ext cx="201168" cy="16459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04672" y="4572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＝学習し直す層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286000" y="4617720"/>
            <a:ext cx="201168" cy="164592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2542032" y="4572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＝固定（重みを変えない）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0" y="45720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PyTorch では「固定特徴抽出器」「ファインチューニング」と呼ぶ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図：AI で生成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420624" cy="420624"/>
          </a:xfrm>
          <a:prstGeom prst="ellipse">
            <a:avLst/>
          </a:prstGeom>
          <a:solidFill>
            <a:srgbClr val="4F7A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92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46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層によって覚えていることが違う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4F7A5A"/>
          </a:solidFill>
          <a:ln w="12700">
            <a:solidFill>
              <a:srgbClr val="4F7A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51560"/>
            <a:ext cx="2514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入口に近い層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DCE8D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645920"/>
            <a:ext cx="251460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線・色・明るさの変化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どんな画像にも共通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17520" y="2057400"/>
            <a:ext cx="292608" cy="329184"/>
          </a:xfrm>
          <a:prstGeom prst="rightArrow">
            <a:avLst/>
          </a:prstGeom>
          <a:solidFill>
            <a:srgbClr val="6B6B6B"/>
          </a:solidFill>
          <a:ln/>
        </p:spPr>
      </p:sp>
      <p:sp>
        <p:nvSpPr>
          <p:cNvPr id="10" name="Shape 8"/>
          <p:cNvSpPr/>
          <p:nvPr/>
        </p:nvSpPr>
        <p:spPr>
          <a:xfrm>
            <a:off x="3337560" y="105156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37560" y="1051560"/>
            <a:ext cx="2514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中間の層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37560" y="164592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8ECCB"/>
          </a:solidFill>
          <a:ln w="12700">
            <a:solidFill>
              <a:srgbClr val="F8EC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37560" y="1645920"/>
            <a:ext cx="251460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模様・形のパーツ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（丸・しま・つぶつぶ）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97880" y="2057400"/>
            <a:ext cx="292608" cy="329184"/>
          </a:xfrm>
          <a:prstGeom prst="rightArrow">
            <a:avLst/>
          </a:prstGeom>
          <a:solidFill>
            <a:srgbClr val="6B6B6B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05156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051560"/>
            <a:ext cx="2514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出口に近い層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0" y="164592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3DDD8"/>
          </a:solidFill>
          <a:ln w="12700">
            <a:solidFill>
              <a:srgbClr val="F3DD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1645920"/>
            <a:ext cx="251460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「犬」「車」などの物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そのタスク専用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0"/>
          </a:xfrm>
          <a:prstGeom prst="line">
            <a:avLst/>
          </a:prstGeom>
          <a:noFill/>
          <a:ln w="2540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457200" y="3218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一般的（ほかのタスクでも使える）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3218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専用（そのタスクだけ）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6F6F6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36576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7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だから：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手前の層はそのまま借りて、最後の層だけ「好き／好きじゃない」用に作り直せばよい。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図：AI で生成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420624" cy="420624"/>
          </a:xfrm>
          <a:prstGeom prst="ellipse">
            <a:avLst/>
          </a:prstGeom>
          <a:solidFill>
            <a:srgbClr val="4F7A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92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46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微調整では学習率を小さくする</a:t>
            </a:r>
            <a:endParaRPr lang="en-US" sz="2400" dirty="0"/>
          </a:p>
        </p:txBody>
      </p:sp>
      <p:pic>
        <p:nvPicPr>
          <p:cNvPr id="5" name="Image 0" descr="valle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5120640" cy="2560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65760" y="3520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図：AI で生成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715000" y="960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大きすぎると…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715000" y="130759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せっかく覚えた重みが大きく変わり、学習済みの知識がこわれる（破滅的忘却）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2194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7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小さくすると…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715000" y="254203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今の重みを少しだけ直すので、借りた知識を残したまま自分のデータに合わせられる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388620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DCE8D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8862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7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授業の設定　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凍結：lr = 0.001（新しい fc だけ）　／　微調整：lr = 0.0001（10分の1）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420624" cy="420624"/>
          </a:xfrm>
          <a:prstGeom prst="ellipse">
            <a:avLst/>
          </a:prstGeom>
          <a:solidFill>
            <a:srgbClr val="4F7A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92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46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何層まで学習し直す？　データ量 × 似ているか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8686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7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ImageNet と似ている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257800" y="8686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似ていない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123444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データが少ない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278892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データが多い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737360" y="123444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F8ECCB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737360" y="1234440"/>
            <a:ext cx="342900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最後の層だけ学習（凍結）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例：自分の靴 100枚 ← ここ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257800" y="123444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F4F4F4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57800" y="1234440"/>
            <a:ext cx="342900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手前の層の特徴を使って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最後の層を学習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737360" y="278892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DCE8D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737360" y="2788920"/>
            <a:ext cx="342900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全体を小さい学習率で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微調整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257800" y="278892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F3DDD8"/>
          </a:solidFill>
          <a:ln w="12700">
            <a:solidFill>
              <a:srgbClr val="F3DD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57800" y="2788920"/>
            <a:ext cx="342900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全体を微調整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またはゼロから学習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7091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CS231n「When and how to fine-tune?」をもとに作成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図：AI で生成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420624" cy="420624"/>
          </a:xfrm>
          <a:prstGeom prst="ellipse">
            <a:avLst/>
          </a:prstGeom>
          <a:solidFill>
            <a:srgbClr val="4F7A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92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46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自分の靴写真ならどうするか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868680"/>
          <a:ext cx="49377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274320" y="4434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標準偏差：CNN 17.3 ／ 凍結 6.0 ／ 微調整 12.8 ／ ViT 14.6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914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7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わかったこと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26187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転移学習はゼロからの CNN より高いが、差÷標準偏差は 1.1〜1.6 で「どちらとも言えない」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0" y="2240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私の選び方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0" y="2587752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データ少×ImageNet と似ている → まず凍結（ブレが小さい）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余裕があれば layer4＋fc を小さい lr で微調整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写真を増やし、5シード×3条件で比べて決める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0" y="4434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グラフ：自分の実験結果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420624" cy="420624"/>
          </a:xfrm>
          <a:prstGeom prst="ellipse">
            <a:avLst/>
          </a:prstGeom>
          <a:solidFill>
            <a:srgbClr val="4F7A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92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468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92608" cy="292608"/>
          </a:xfrm>
          <a:prstGeom prst="ellipse">
            <a:avLst/>
          </a:prstGeom>
          <a:solidFill>
            <a:srgbClr val="4F7A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0058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PyTorch Tutorials「Transfer Learning for Computer Vision Tutorial」</a:t>
            </a:r>
            <a:endParaRPr lang="en-US" sz="1300" dirty="0"/>
          </a:p>
        </p:txBody>
      </p:sp>
      <p:sp>
        <p:nvSpPr>
          <p:cNvPr id="8" name="Text 6">
            <a:hlinkClick r:id="rId1" tooltip=""/>
          </p:cNvPr>
          <p:cNvSpPr txBox="1"/>
          <p:nvPr/>
        </p:nvSpPr>
        <p:spPr>
          <a:xfrm>
            <a:off x="914400" y="13533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4F7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https://pytorch.org/tutorials/beginner/transfer_learning_tutorial.html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292608" cy="292608"/>
          </a:xfrm>
          <a:prstGeom prst="ellipse">
            <a:avLst/>
          </a:prstGeom>
          <a:solidFill>
            <a:srgbClr val="4F7A5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178308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Stanford CS231n「Transfer Learning」</a:t>
            </a:r>
            <a:endParaRPr lang="en-US" sz="1300" dirty="0"/>
          </a:p>
        </p:txBody>
      </p:sp>
      <p:sp>
        <p:nvSpPr>
          <p:cNvPr id="12" name="Text 10">
            <a:hlinkClick r:id="rId2" tooltip=""/>
          </p:cNvPr>
          <p:cNvSpPr txBox="1"/>
          <p:nvPr/>
        </p:nvSpPr>
        <p:spPr>
          <a:xfrm>
            <a:off x="914400" y="2130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4F7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https://cs231n.github.io/transfer-learning/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292608" cy="292608"/>
          </a:xfrm>
          <a:prstGeom prst="ellipse">
            <a:avLst/>
          </a:prstGeom>
          <a:solidFill>
            <a:srgbClr val="4F7A5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56032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Yosinski et al. (2014)「How transferable are features in deep neural networks?」</a:t>
            </a:r>
            <a:endParaRPr lang="en-US" sz="1300" dirty="0"/>
          </a:p>
        </p:txBody>
      </p:sp>
      <p:sp>
        <p:nvSpPr>
          <p:cNvPr id="16" name="Text 14">
            <a:hlinkClick r:id="rId3" tooltip=""/>
          </p:cNvPr>
          <p:cNvSpPr txBox="1"/>
          <p:nvPr/>
        </p:nvSpPr>
        <p:spPr>
          <a:xfrm>
            <a:off x="914400" y="29077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4F7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https://arxiv.org/abs/1411.1792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292608" cy="292608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33375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授業の教科書 第8章（転移学習）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34340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図 1〜5 は AI（Claude）で作成した（内容は自分で指定）。図 6 のグラフは自分の実験結果。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転移学習を図解する</dc:title>
  <dc:subject>PptxGenJS Presentation</dc:subject>
  <dc:creator>PptxGenJS</dc:creator>
  <cp:lastModifiedBy>PptxGenJS</cp:lastModifiedBy>
  <cp:revision>1</cp:revision>
  <dcterms:created xsi:type="dcterms:W3CDTF">2026-10-29T07:13:31Z</dcterms:created>
  <dcterms:modified xsi:type="dcterms:W3CDTF">2026-10-29T07:13:31Z</dcterms:modified>
</cp:coreProperties>
</file>